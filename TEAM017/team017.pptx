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Archivo Black" charset="1" panose="020B0A03020202020B04"/>
      <p:regular r:id="rId14"/>
    </p:embeddedFont>
    <p:embeddedFont>
      <p:font typeface="Garet Italics" charset="1" panose="00000000000000000000"/>
      <p:regular r:id="rId15"/>
    </p:embeddedFont>
    <p:embeddedFont>
      <p:font typeface="Canva Sans Bold" charset="1" panose="020B0803030501040103"/>
      <p:regular r:id="rId16"/>
    </p:embeddedFont>
    <p:embeddedFont>
      <p:font typeface="Poppins Bold" charset="1" panose="00000800000000000000"/>
      <p:regular r:id="rId17"/>
    </p:embeddedFont>
    <p:embeddedFont>
      <p:font typeface="Poppins" charset="1" panose="00000500000000000000"/>
      <p:regular r:id="rId18"/>
    </p:embeddedFont>
    <p:embeddedFont>
      <p:font typeface="Poppins Light" charset="1" panose="00000400000000000000"/>
      <p:regular r:id="rId19"/>
    </p:embeddedFont>
    <p:embeddedFont>
      <p:font typeface="Canva Sans" charset="1" panose="020B0503030501040103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png" Type="http://schemas.openxmlformats.org/officeDocument/2006/relationships/image"/><Relationship Id="rId11" Target="../media/image16.svg" Type="http://schemas.openxmlformats.org/officeDocument/2006/relationships/image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13.png" Type="http://schemas.openxmlformats.org/officeDocument/2006/relationships/image"/><Relationship Id="rId9" Target="../media/image1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.jpeg" Type="http://schemas.openxmlformats.org/officeDocument/2006/relationships/image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17.png" Type="http://schemas.openxmlformats.org/officeDocument/2006/relationships/image"/><Relationship Id="rId7" Target="../media/image18.svg" Type="http://schemas.openxmlformats.org/officeDocument/2006/relationships/image"/><Relationship Id="rId8" Target="../media/image15.png" Type="http://schemas.openxmlformats.org/officeDocument/2006/relationships/image"/><Relationship Id="rId9" Target="../media/image1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C698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743854" y="3436538"/>
            <a:ext cx="7906424" cy="7906424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56178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1934097" y="2015845"/>
            <a:ext cx="5208967" cy="6255310"/>
          </a:xfrm>
          <a:custGeom>
            <a:avLst/>
            <a:gdLst/>
            <a:ahLst/>
            <a:cxnLst/>
            <a:rect r="r" b="b" t="t" l="l"/>
            <a:pathLst>
              <a:path h="6255310" w="5208967">
                <a:moveTo>
                  <a:pt x="0" y="0"/>
                </a:moveTo>
                <a:lnTo>
                  <a:pt x="5208967" y="0"/>
                </a:lnTo>
                <a:lnTo>
                  <a:pt x="5208967" y="6255310"/>
                </a:lnTo>
                <a:lnTo>
                  <a:pt x="0" y="62553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-3362279" y="-772911"/>
            <a:ext cx="7906424" cy="7906424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56178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419131" y="1715892"/>
            <a:ext cx="10789161" cy="5014542"/>
            <a:chOff x="0" y="0"/>
            <a:chExt cx="2622560" cy="121890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4389" y="0"/>
              <a:ext cx="2613782" cy="1218903"/>
            </a:xfrm>
            <a:custGeom>
              <a:avLst/>
              <a:gdLst/>
              <a:ahLst/>
              <a:cxnLst/>
              <a:rect r="r" b="b" t="t" l="l"/>
              <a:pathLst>
                <a:path h="1218903" w="2613782">
                  <a:moveTo>
                    <a:pt x="227514" y="1218903"/>
                  </a:moveTo>
                  <a:lnTo>
                    <a:pt x="2386268" y="1218903"/>
                  </a:lnTo>
                  <a:cubicBezTo>
                    <a:pt x="2402831" y="1218903"/>
                    <a:pt x="2416967" y="1206928"/>
                    <a:pt x="2419691" y="1190591"/>
                  </a:cubicBezTo>
                  <a:lnTo>
                    <a:pt x="2613451" y="28312"/>
                  </a:lnTo>
                  <a:cubicBezTo>
                    <a:pt x="2614626" y="21262"/>
                    <a:pt x="2612640" y="14052"/>
                    <a:pt x="2608020" y="8598"/>
                  </a:cubicBezTo>
                  <a:cubicBezTo>
                    <a:pt x="2603401" y="3145"/>
                    <a:pt x="2596615" y="0"/>
                    <a:pt x="2589468" y="0"/>
                  </a:cubicBezTo>
                  <a:lnTo>
                    <a:pt x="24314" y="0"/>
                  </a:lnTo>
                  <a:cubicBezTo>
                    <a:pt x="17166" y="0"/>
                    <a:pt x="10381" y="3145"/>
                    <a:pt x="5761" y="8598"/>
                  </a:cubicBezTo>
                  <a:cubicBezTo>
                    <a:pt x="1142" y="14052"/>
                    <a:pt x="-844" y="21262"/>
                    <a:pt x="331" y="28312"/>
                  </a:cubicBezTo>
                  <a:lnTo>
                    <a:pt x="194091" y="1190591"/>
                  </a:lnTo>
                  <a:cubicBezTo>
                    <a:pt x="196815" y="1206928"/>
                    <a:pt x="210950" y="1218903"/>
                    <a:pt x="227514" y="1218903"/>
                  </a:cubicBezTo>
                  <a:close/>
                </a:path>
              </a:pathLst>
            </a:custGeom>
            <a:solidFill>
              <a:srgbClr val="E1EBED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127000" y="-38100"/>
              <a:ext cx="2368560" cy="12570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1934097" y="1159799"/>
            <a:ext cx="766015" cy="766015"/>
          </a:xfrm>
          <a:custGeom>
            <a:avLst/>
            <a:gdLst/>
            <a:ahLst/>
            <a:cxnLst/>
            <a:rect r="r" b="b" t="t" l="l"/>
            <a:pathLst>
              <a:path h="766015" w="766015">
                <a:moveTo>
                  <a:pt x="0" y="0"/>
                </a:moveTo>
                <a:lnTo>
                  <a:pt x="766015" y="0"/>
                </a:lnTo>
                <a:lnTo>
                  <a:pt x="766015" y="766016"/>
                </a:lnTo>
                <a:lnTo>
                  <a:pt x="0" y="7660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687202" y="1321078"/>
            <a:ext cx="1682450" cy="1658111"/>
          </a:xfrm>
          <a:custGeom>
            <a:avLst/>
            <a:gdLst/>
            <a:ahLst/>
            <a:cxnLst/>
            <a:rect r="r" b="b" t="t" l="l"/>
            <a:pathLst>
              <a:path h="1658111" w="1682450">
                <a:moveTo>
                  <a:pt x="0" y="0"/>
                </a:moveTo>
                <a:lnTo>
                  <a:pt x="1682450" y="0"/>
                </a:lnTo>
                <a:lnTo>
                  <a:pt x="1682450" y="1658111"/>
                </a:lnTo>
                <a:lnTo>
                  <a:pt x="0" y="165811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4" id="14"/>
          <p:cNvSpPr txBox="true"/>
          <p:nvPr/>
        </p:nvSpPr>
        <p:spPr>
          <a:xfrm rot="0">
            <a:off x="2043073" y="2989358"/>
            <a:ext cx="9541277" cy="1233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200"/>
              </a:lnSpc>
            </a:pPr>
            <a:r>
              <a:rPr lang="en-US" sz="9200">
                <a:solidFill>
                  <a:srgbClr val="FF7F50"/>
                </a:solidFill>
                <a:latin typeface="Archivo Black"/>
                <a:ea typeface="Archivo Black"/>
                <a:cs typeface="Archivo Black"/>
                <a:sym typeface="Archivo Black"/>
              </a:rPr>
              <a:t>RURALKART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096269" y="4552917"/>
            <a:ext cx="8124748" cy="11906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99"/>
              </a:lnSpc>
            </a:pPr>
            <a:r>
              <a:rPr lang="en-US" sz="3999" i="true">
                <a:solidFill>
                  <a:srgbClr val="26262F"/>
                </a:solidFill>
                <a:latin typeface="Garet Italics"/>
                <a:ea typeface="Garet Italics"/>
                <a:cs typeface="Garet Italics"/>
                <a:sym typeface="Garet Italics"/>
              </a:rPr>
              <a:t>“NAVIGATING THE FUTURE OF ONLINE SHOPPING”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941209" y="822178"/>
            <a:ext cx="9541277" cy="1103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00"/>
              </a:lnSpc>
            </a:pPr>
            <a:r>
              <a:rPr lang="en-US" sz="8200">
                <a:solidFill>
                  <a:srgbClr val="FF7F50"/>
                </a:solidFill>
                <a:latin typeface="Archivo Black"/>
                <a:ea typeface="Archivo Black"/>
                <a:cs typeface="Archivo Black"/>
                <a:sym typeface="Archivo Black"/>
              </a:rPr>
              <a:t>TEAM 017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632193" y="6714413"/>
            <a:ext cx="4365308" cy="6959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40"/>
              </a:lnSpc>
            </a:pPr>
            <a:r>
              <a:rPr lang="en-US" sz="41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TEAM MEMBERS: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361922" y="6778271"/>
            <a:ext cx="3754398" cy="2919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734069" indent="-367035" lvl="1">
              <a:lnSpc>
                <a:spcPts val="4760"/>
              </a:lnSpc>
              <a:buFont typeface="Arial"/>
              <a:buChar char="•"/>
            </a:pPr>
            <a:r>
              <a:rPr lang="en-US" b="true" sz="3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KEERTHANA K</a:t>
            </a:r>
          </a:p>
          <a:p>
            <a:pPr algn="ctr" marL="734069" indent="-367035" lvl="1">
              <a:lnSpc>
                <a:spcPts val="4760"/>
              </a:lnSpc>
              <a:buFont typeface="Arial"/>
              <a:buChar char="•"/>
            </a:pPr>
            <a:r>
              <a:rPr lang="en-US" b="true" sz="3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INBARASI D</a:t>
            </a:r>
          </a:p>
          <a:p>
            <a:pPr algn="ctr" marL="734069" indent="-367035" lvl="1">
              <a:lnSpc>
                <a:spcPts val="4760"/>
              </a:lnSpc>
              <a:buFont typeface="Arial"/>
              <a:buChar char="•"/>
            </a:pPr>
            <a:r>
              <a:rPr lang="en-US" b="true" sz="3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KAVIYA R</a:t>
            </a:r>
          </a:p>
          <a:p>
            <a:pPr algn="ctr" marL="734069" indent="-367035" lvl="1">
              <a:lnSpc>
                <a:spcPts val="4760"/>
              </a:lnSpc>
              <a:buFont typeface="Arial"/>
              <a:buChar char="•"/>
            </a:pPr>
            <a:r>
              <a:rPr lang="en-US" b="true" sz="3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KARPAGAM S</a:t>
            </a:r>
          </a:p>
          <a:p>
            <a:pPr algn="ctr" marL="647711" indent="-323856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JAINANDHINI 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07563" y="2845862"/>
            <a:ext cx="5910848" cy="5040341"/>
          </a:xfrm>
          <a:custGeom>
            <a:avLst/>
            <a:gdLst/>
            <a:ahLst/>
            <a:cxnLst/>
            <a:rect r="r" b="b" t="t" l="l"/>
            <a:pathLst>
              <a:path h="5040341" w="5910848">
                <a:moveTo>
                  <a:pt x="0" y="0"/>
                </a:moveTo>
                <a:lnTo>
                  <a:pt x="5910848" y="0"/>
                </a:lnTo>
                <a:lnTo>
                  <a:pt x="5910848" y="5040341"/>
                </a:lnTo>
                <a:lnTo>
                  <a:pt x="0" y="50403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114470" y="3218575"/>
            <a:ext cx="7749480" cy="846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78"/>
              </a:lnSpc>
            </a:pPr>
            <a:r>
              <a:rPr lang="en-US" sz="6100" b="true">
                <a:solidFill>
                  <a:srgbClr val="1C1C1C"/>
                </a:solidFill>
                <a:latin typeface="Poppins Bold"/>
                <a:ea typeface="Poppins Bold"/>
                <a:cs typeface="Poppins Bold"/>
                <a:sym typeface="Poppins Bold"/>
              </a:rPr>
              <a:t>Problem statement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-5400000">
            <a:off x="14305380" y="6786261"/>
            <a:ext cx="4921983" cy="985857"/>
          </a:xfrm>
          <a:custGeom>
            <a:avLst/>
            <a:gdLst/>
            <a:ahLst/>
            <a:cxnLst/>
            <a:rect r="r" b="b" t="t" l="l"/>
            <a:pathLst>
              <a:path h="985857" w="4921983">
                <a:moveTo>
                  <a:pt x="0" y="0"/>
                </a:moveTo>
                <a:lnTo>
                  <a:pt x="4921983" y="0"/>
                </a:lnTo>
                <a:lnTo>
                  <a:pt x="4921983" y="985857"/>
                </a:lnTo>
                <a:lnTo>
                  <a:pt x="0" y="98585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3353698" y="912596"/>
            <a:ext cx="3905602" cy="3905602"/>
          </a:xfrm>
          <a:custGeom>
            <a:avLst/>
            <a:gdLst/>
            <a:ahLst/>
            <a:cxnLst/>
            <a:rect r="r" b="b" t="t" l="l"/>
            <a:pathLst>
              <a:path h="3905602" w="3905602">
                <a:moveTo>
                  <a:pt x="3905602" y="0"/>
                </a:moveTo>
                <a:lnTo>
                  <a:pt x="0" y="0"/>
                </a:lnTo>
                <a:lnTo>
                  <a:pt x="0" y="3905602"/>
                </a:lnTo>
                <a:lnTo>
                  <a:pt x="3905602" y="3905602"/>
                </a:lnTo>
                <a:lnTo>
                  <a:pt x="3905602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0">
            <a:off x="12088199" y="-2009082"/>
            <a:ext cx="3905602" cy="3905602"/>
          </a:xfrm>
          <a:custGeom>
            <a:avLst/>
            <a:gdLst/>
            <a:ahLst/>
            <a:cxnLst/>
            <a:rect r="r" b="b" t="t" l="l"/>
            <a:pathLst>
              <a:path h="3905602" w="3905602">
                <a:moveTo>
                  <a:pt x="0" y="3905602"/>
                </a:moveTo>
                <a:lnTo>
                  <a:pt x="3905601" y="3905602"/>
                </a:lnTo>
                <a:lnTo>
                  <a:pt x="3905601" y="0"/>
                </a:lnTo>
                <a:lnTo>
                  <a:pt x="0" y="0"/>
                </a:lnTo>
                <a:lnTo>
                  <a:pt x="0" y="3905602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5400000">
            <a:off x="14305380" y="8765371"/>
            <a:ext cx="4921983" cy="985857"/>
          </a:xfrm>
          <a:custGeom>
            <a:avLst/>
            <a:gdLst/>
            <a:ahLst/>
            <a:cxnLst/>
            <a:rect r="r" b="b" t="t" l="l"/>
            <a:pathLst>
              <a:path h="985857" w="4921983">
                <a:moveTo>
                  <a:pt x="0" y="0"/>
                </a:moveTo>
                <a:lnTo>
                  <a:pt x="4921983" y="0"/>
                </a:lnTo>
                <a:lnTo>
                  <a:pt x="4921983" y="985858"/>
                </a:lnTo>
                <a:lnTo>
                  <a:pt x="0" y="98585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158717" y="676758"/>
            <a:ext cx="206393" cy="332892"/>
          </a:xfrm>
          <a:custGeom>
            <a:avLst/>
            <a:gdLst/>
            <a:ahLst/>
            <a:cxnLst/>
            <a:rect r="r" b="b" t="t" l="l"/>
            <a:pathLst>
              <a:path h="332892" w="206393">
                <a:moveTo>
                  <a:pt x="0" y="0"/>
                </a:moveTo>
                <a:lnTo>
                  <a:pt x="206393" y="0"/>
                </a:lnTo>
                <a:lnTo>
                  <a:pt x="206393" y="332892"/>
                </a:lnTo>
                <a:lnTo>
                  <a:pt x="0" y="33289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701560">
            <a:off x="185470" y="9258300"/>
            <a:ext cx="1322093" cy="1594629"/>
          </a:xfrm>
          <a:custGeom>
            <a:avLst/>
            <a:gdLst/>
            <a:ahLst/>
            <a:cxnLst/>
            <a:rect r="r" b="b" t="t" l="l"/>
            <a:pathLst>
              <a:path h="1594629" w="1322093">
                <a:moveTo>
                  <a:pt x="0" y="0"/>
                </a:moveTo>
                <a:lnTo>
                  <a:pt x="1322093" y="0"/>
                </a:lnTo>
                <a:lnTo>
                  <a:pt x="1322093" y="1594629"/>
                </a:lnTo>
                <a:lnTo>
                  <a:pt x="0" y="159462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34000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8153770" y="4722948"/>
            <a:ext cx="7505058" cy="1073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73"/>
              </a:lnSpc>
            </a:pPr>
            <a:r>
              <a:rPr lang="en-US" b="true" sz="2887" spc="144">
                <a:solidFill>
                  <a:srgbClr val="545454"/>
                </a:solidFill>
                <a:latin typeface="Poppins Bold"/>
                <a:ea typeface="Poppins Bold"/>
                <a:cs typeface="Poppins Bold"/>
                <a:sym typeface="Poppins Bold"/>
              </a:rPr>
              <a:t> Rural   Artisans  E-commerce Platform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07563" y="676758"/>
            <a:ext cx="1960274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1"/>
              </a:lnSpc>
            </a:pPr>
            <a:r>
              <a:rPr lang="en-US" sz="2192">
                <a:solidFill>
                  <a:srgbClr val="1C1C1C"/>
                </a:solidFill>
                <a:latin typeface="Poppins"/>
                <a:ea typeface="Poppins"/>
                <a:cs typeface="Poppins"/>
                <a:sym typeface="Poppins"/>
              </a:rPr>
              <a:t>Rimberio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-2250332">
            <a:off x="9645278" y="231868"/>
            <a:ext cx="1322093" cy="1594629"/>
          </a:xfrm>
          <a:custGeom>
            <a:avLst/>
            <a:gdLst/>
            <a:ahLst/>
            <a:cxnLst/>
            <a:rect r="r" b="b" t="t" l="l"/>
            <a:pathLst>
              <a:path h="1594629" w="1322093">
                <a:moveTo>
                  <a:pt x="0" y="0"/>
                </a:moveTo>
                <a:lnTo>
                  <a:pt x="1322093" y="0"/>
                </a:lnTo>
                <a:lnTo>
                  <a:pt x="1322093" y="1594630"/>
                </a:lnTo>
                <a:lnTo>
                  <a:pt x="0" y="159463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34000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701560">
            <a:off x="14188868" y="8028127"/>
            <a:ext cx="1322093" cy="1594629"/>
          </a:xfrm>
          <a:custGeom>
            <a:avLst/>
            <a:gdLst/>
            <a:ahLst/>
            <a:cxnLst/>
            <a:rect r="r" b="b" t="t" l="l"/>
            <a:pathLst>
              <a:path h="1594629" w="1322093">
                <a:moveTo>
                  <a:pt x="0" y="0"/>
                </a:moveTo>
                <a:lnTo>
                  <a:pt x="1322092" y="0"/>
                </a:lnTo>
                <a:lnTo>
                  <a:pt x="1322092" y="1594630"/>
                </a:lnTo>
                <a:lnTo>
                  <a:pt x="0" y="159463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34000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-2989715">
            <a:off x="7897305" y="8261922"/>
            <a:ext cx="678752" cy="818670"/>
          </a:xfrm>
          <a:custGeom>
            <a:avLst/>
            <a:gdLst/>
            <a:ahLst/>
            <a:cxnLst/>
            <a:rect r="r" b="b" t="t" l="l"/>
            <a:pathLst>
              <a:path h="818670" w="678752">
                <a:moveTo>
                  <a:pt x="0" y="0"/>
                </a:moveTo>
                <a:lnTo>
                  <a:pt x="678752" y="0"/>
                </a:lnTo>
                <a:lnTo>
                  <a:pt x="678752" y="818670"/>
                </a:lnTo>
                <a:lnTo>
                  <a:pt x="0" y="81867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34000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2279228">
            <a:off x="5038219" y="1122199"/>
            <a:ext cx="654118" cy="788958"/>
          </a:xfrm>
          <a:custGeom>
            <a:avLst/>
            <a:gdLst/>
            <a:ahLst/>
            <a:cxnLst/>
            <a:rect r="r" b="b" t="t" l="l"/>
            <a:pathLst>
              <a:path h="788958" w="654118">
                <a:moveTo>
                  <a:pt x="0" y="0"/>
                </a:moveTo>
                <a:lnTo>
                  <a:pt x="654118" y="0"/>
                </a:lnTo>
                <a:lnTo>
                  <a:pt x="654118" y="788959"/>
                </a:lnTo>
                <a:lnTo>
                  <a:pt x="0" y="78895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34000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8236681" y="6241580"/>
            <a:ext cx="7655327" cy="949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2"/>
              </a:lnSpc>
            </a:pPr>
            <a:r>
              <a:rPr lang="en-US" sz="2027" spc="370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Rural Artisans struggle to sell their handmade products to a  broader audience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8091077" y="7198353"/>
            <a:ext cx="4921983" cy="985857"/>
          </a:xfrm>
          <a:custGeom>
            <a:avLst/>
            <a:gdLst/>
            <a:ahLst/>
            <a:cxnLst/>
            <a:rect r="r" b="b" t="t" l="l"/>
            <a:pathLst>
              <a:path h="985857" w="4921983">
                <a:moveTo>
                  <a:pt x="0" y="0"/>
                </a:moveTo>
                <a:lnTo>
                  <a:pt x="4921982" y="0"/>
                </a:lnTo>
                <a:lnTo>
                  <a:pt x="4921982" y="985857"/>
                </a:lnTo>
                <a:lnTo>
                  <a:pt x="0" y="9858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212767" y="4524134"/>
            <a:ext cx="2868699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39"/>
              </a:lnSpc>
            </a:pPr>
            <a:r>
              <a:rPr lang="en-US" sz="3699" b="true">
                <a:solidFill>
                  <a:srgbClr val="414141"/>
                </a:solidFill>
                <a:latin typeface="Poppins Bold"/>
                <a:ea typeface="Poppins Bold"/>
                <a:cs typeface="Poppins Bold"/>
                <a:sym typeface="Poppins Bold"/>
              </a:rPr>
              <a:t>Amazon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028700" y="4967288"/>
            <a:ext cx="206393" cy="332892"/>
          </a:xfrm>
          <a:custGeom>
            <a:avLst/>
            <a:gdLst/>
            <a:ahLst/>
            <a:cxnLst/>
            <a:rect r="r" b="b" t="t" l="l"/>
            <a:pathLst>
              <a:path h="332892" w="206393">
                <a:moveTo>
                  <a:pt x="0" y="0"/>
                </a:moveTo>
                <a:lnTo>
                  <a:pt x="206393" y="0"/>
                </a:lnTo>
                <a:lnTo>
                  <a:pt x="206393" y="332892"/>
                </a:lnTo>
                <a:lnTo>
                  <a:pt x="0" y="3328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588383" y="4512469"/>
            <a:ext cx="445049" cy="717821"/>
          </a:xfrm>
          <a:custGeom>
            <a:avLst/>
            <a:gdLst/>
            <a:ahLst/>
            <a:cxnLst/>
            <a:rect r="r" b="b" t="t" l="l"/>
            <a:pathLst>
              <a:path h="717821" w="445049">
                <a:moveTo>
                  <a:pt x="0" y="0"/>
                </a:moveTo>
                <a:lnTo>
                  <a:pt x="445049" y="0"/>
                </a:lnTo>
                <a:lnTo>
                  <a:pt x="445049" y="717821"/>
                </a:lnTo>
                <a:lnTo>
                  <a:pt x="0" y="71782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670448" y="6490016"/>
            <a:ext cx="445049" cy="717821"/>
          </a:xfrm>
          <a:custGeom>
            <a:avLst/>
            <a:gdLst/>
            <a:ahLst/>
            <a:cxnLst/>
            <a:rect r="r" b="b" t="t" l="l"/>
            <a:pathLst>
              <a:path h="717821" w="445049">
                <a:moveTo>
                  <a:pt x="0" y="0"/>
                </a:moveTo>
                <a:lnTo>
                  <a:pt x="445050" y="0"/>
                </a:lnTo>
                <a:lnTo>
                  <a:pt x="445050" y="717821"/>
                </a:lnTo>
                <a:lnTo>
                  <a:pt x="0" y="71782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701560">
            <a:off x="185470" y="9258300"/>
            <a:ext cx="1322093" cy="1594629"/>
          </a:xfrm>
          <a:custGeom>
            <a:avLst/>
            <a:gdLst/>
            <a:ahLst/>
            <a:cxnLst/>
            <a:rect r="r" b="b" t="t" l="l"/>
            <a:pathLst>
              <a:path h="1594629" w="1322093">
                <a:moveTo>
                  <a:pt x="0" y="0"/>
                </a:moveTo>
                <a:lnTo>
                  <a:pt x="1322093" y="0"/>
                </a:lnTo>
                <a:lnTo>
                  <a:pt x="1322093" y="1594629"/>
                </a:lnTo>
                <a:lnTo>
                  <a:pt x="0" y="159462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34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2250332">
            <a:off x="10833331" y="417774"/>
            <a:ext cx="423332" cy="510598"/>
          </a:xfrm>
          <a:custGeom>
            <a:avLst/>
            <a:gdLst/>
            <a:ahLst/>
            <a:cxnLst/>
            <a:rect r="r" b="b" t="t" l="l"/>
            <a:pathLst>
              <a:path h="510598" w="423332">
                <a:moveTo>
                  <a:pt x="0" y="0"/>
                </a:moveTo>
                <a:lnTo>
                  <a:pt x="423331" y="0"/>
                </a:lnTo>
                <a:lnTo>
                  <a:pt x="423331" y="510598"/>
                </a:lnTo>
                <a:lnTo>
                  <a:pt x="0" y="51059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34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701560">
            <a:off x="15476917" y="8343562"/>
            <a:ext cx="1322093" cy="1594629"/>
          </a:xfrm>
          <a:custGeom>
            <a:avLst/>
            <a:gdLst/>
            <a:ahLst/>
            <a:cxnLst/>
            <a:rect r="r" b="b" t="t" l="l"/>
            <a:pathLst>
              <a:path h="1594629" w="1322093">
                <a:moveTo>
                  <a:pt x="0" y="0"/>
                </a:moveTo>
                <a:lnTo>
                  <a:pt x="1322093" y="0"/>
                </a:lnTo>
                <a:lnTo>
                  <a:pt x="1322093" y="1594629"/>
                </a:lnTo>
                <a:lnTo>
                  <a:pt x="0" y="159462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34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2989715">
            <a:off x="6674489" y="3938669"/>
            <a:ext cx="678752" cy="818670"/>
          </a:xfrm>
          <a:custGeom>
            <a:avLst/>
            <a:gdLst/>
            <a:ahLst/>
            <a:cxnLst/>
            <a:rect r="r" b="b" t="t" l="l"/>
            <a:pathLst>
              <a:path h="818670" w="678752">
                <a:moveTo>
                  <a:pt x="0" y="0"/>
                </a:moveTo>
                <a:lnTo>
                  <a:pt x="678752" y="0"/>
                </a:lnTo>
                <a:lnTo>
                  <a:pt x="678752" y="818670"/>
                </a:lnTo>
                <a:lnTo>
                  <a:pt x="0" y="81867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34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-359586" y="6211121"/>
            <a:ext cx="4030034" cy="4030034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10"/>
              <a:stretch>
                <a:fillRect l="-11442" t="0" r="-11442" b="0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401620" y="1717515"/>
            <a:ext cx="8367227" cy="10054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39"/>
              </a:lnSpc>
            </a:pPr>
            <a:r>
              <a:rPr lang="en-US" sz="5369" b="true">
                <a:solidFill>
                  <a:srgbClr val="1C1C1C"/>
                </a:solidFill>
                <a:latin typeface="Poppins Bold"/>
                <a:ea typeface="Poppins Bold"/>
                <a:cs typeface="Poppins Bold"/>
                <a:sym typeface="Poppins Bold"/>
              </a:rPr>
              <a:t>Existing Solutions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455390" y="6575741"/>
            <a:ext cx="2868699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59"/>
              </a:lnSpc>
            </a:pPr>
            <a:r>
              <a:rPr lang="en-US" sz="3799" b="true">
                <a:solidFill>
                  <a:srgbClr val="414141"/>
                </a:solidFill>
                <a:latin typeface="Poppins Bold"/>
                <a:ea typeface="Poppins Bold"/>
                <a:cs typeface="Poppins Bold"/>
                <a:sym typeface="Poppins Bold"/>
              </a:rPr>
              <a:t>Flipkart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260149" y="3665936"/>
            <a:ext cx="5632064" cy="5392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17"/>
              </a:lnSpc>
            </a:pPr>
            <a:r>
              <a:rPr lang="en-US" sz="3348" b="true">
                <a:solidFill>
                  <a:srgbClr val="414141"/>
                </a:solidFill>
                <a:latin typeface="Poppins Bold"/>
                <a:ea typeface="Poppins Bold"/>
                <a:cs typeface="Poppins Bold"/>
                <a:sym typeface="Poppins Bold"/>
              </a:rPr>
              <a:t>Existing platform link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076181" y="5320695"/>
            <a:ext cx="3192899" cy="389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sz="2300" u="sng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https://www.amazon.in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854408" y="7653182"/>
            <a:ext cx="4571697" cy="3562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u="sng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https://www.flipkart.com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-5400000">
            <a:off x="8091077" y="2179814"/>
            <a:ext cx="4921983" cy="985857"/>
          </a:xfrm>
          <a:custGeom>
            <a:avLst/>
            <a:gdLst/>
            <a:ahLst/>
            <a:cxnLst/>
            <a:rect r="r" b="b" t="t" l="l"/>
            <a:pathLst>
              <a:path h="985857" w="4921983">
                <a:moveTo>
                  <a:pt x="0" y="0"/>
                </a:moveTo>
                <a:lnTo>
                  <a:pt x="4921982" y="0"/>
                </a:lnTo>
                <a:lnTo>
                  <a:pt x="4921982" y="985857"/>
                </a:lnTo>
                <a:lnTo>
                  <a:pt x="0" y="9858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3559597" y="4243146"/>
            <a:ext cx="2868699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39"/>
              </a:lnSpc>
            </a:pPr>
            <a:r>
              <a:rPr lang="en-US" sz="3699" b="true">
                <a:solidFill>
                  <a:srgbClr val="414141"/>
                </a:solidFill>
                <a:latin typeface="Poppins Bold"/>
                <a:ea typeface="Poppins Bold"/>
                <a:cs typeface="Poppins Bold"/>
                <a:sym typeface="Poppins Bold"/>
              </a:rPr>
              <a:t>Meesho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12506118" y="4249466"/>
            <a:ext cx="445049" cy="717821"/>
          </a:xfrm>
          <a:custGeom>
            <a:avLst/>
            <a:gdLst/>
            <a:ahLst/>
            <a:cxnLst/>
            <a:rect r="r" b="b" t="t" l="l"/>
            <a:pathLst>
              <a:path h="717821" w="445049">
                <a:moveTo>
                  <a:pt x="0" y="0"/>
                </a:moveTo>
                <a:lnTo>
                  <a:pt x="445050" y="0"/>
                </a:lnTo>
                <a:lnTo>
                  <a:pt x="445050" y="717822"/>
                </a:lnTo>
                <a:lnTo>
                  <a:pt x="0" y="71782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3739117" y="6574532"/>
            <a:ext cx="2689179" cy="5553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62"/>
              </a:lnSpc>
            </a:pPr>
            <a:r>
              <a:rPr lang="en-US" sz="3468" b="true">
                <a:solidFill>
                  <a:srgbClr val="414141"/>
                </a:solidFill>
                <a:latin typeface="Poppins Bold"/>
                <a:ea typeface="Poppins Bold"/>
                <a:cs typeface="Poppins Bold"/>
                <a:sym typeface="Poppins Bold"/>
              </a:rPr>
              <a:t>Snapdeal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12506118" y="6490016"/>
            <a:ext cx="445049" cy="717821"/>
          </a:xfrm>
          <a:custGeom>
            <a:avLst/>
            <a:gdLst/>
            <a:ahLst/>
            <a:cxnLst/>
            <a:rect r="r" b="b" t="t" l="l"/>
            <a:pathLst>
              <a:path h="717821" w="445049">
                <a:moveTo>
                  <a:pt x="0" y="0"/>
                </a:moveTo>
                <a:lnTo>
                  <a:pt x="445050" y="0"/>
                </a:lnTo>
                <a:lnTo>
                  <a:pt x="445050" y="717821"/>
                </a:lnTo>
                <a:lnTo>
                  <a:pt x="0" y="71782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3708737" y="5509487"/>
            <a:ext cx="3550563" cy="389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sz="2300" u="sng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https://www.meesho.com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4131888" y="7620162"/>
            <a:ext cx="3736896" cy="389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sz="2300" u="sng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https://www.snapdeal.com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53685" y="210509"/>
            <a:ext cx="17635518" cy="9262302"/>
          </a:xfrm>
          <a:custGeom>
            <a:avLst/>
            <a:gdLst/>
            <a:ahLst/>
            <a:cxnLst/>
            <a:rect r="r" b="b" t="t" l="l"/>
            <a:pathLst>
              <a:path h="9262302" w="17635518">
                <a:moveTo>
                  <a:pt x="0" y="0"/>
                </a:moveTo>
                <a:lnTo>
                  <a:pt x="17635518" y="0"/>
                </a:lnTo>
                <a:lnTo>
                  <a:pt x="17635518" y="9262302"/>
                </a:lnTo>
                <a:lnTo>
                  <a:pt x="0" y="92623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82" t="-7881" r="-482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91425" y="582317"/>
            <a:ext cx="14084842" cy="9325724"/>
          </a:xfrm>
          <a:custGeom>
            <a:avLst/>
            <a:gdLst/>
            <a:ahLst/>
            <a:cxnLst/>
            <a:rect r="r" b="b" t="t" l="l"/>
            <a:pathLst>
              <a:path h="9325724" w="14084842">
                <a:moveTo>
                  <a:pt x="0" y="0"/>
                </a:moveTo>
                <a:lnTo>
                  <a:pt x="14084841" y="0"/>
                </a:lnTo>
                <a:lnTo>
                  <a:pt x="14084841" y="9325724"/>
                </a:lnTo>
                <a:lnTo>
                  <a:pt x="0" y="93257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603" t="0" r="-13821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092758" y="250874"/>
            <a:ext cx="7540238" cy="9541770"/>
          </a:xfrm>
          <a:custGeom>
            <a:avLst/>
            <a:gdLst/>
            <a:ahLst/>
            <a:cxnLst/>
            <a:rect r="r" b="b" t="t" l="l"/>
            <a:pathLst>
              <a:path h="9541770" w="7540238">
                <a:moveTo>
                  <a:pt x="0" y="0"/>
                </a:moveTo>
                <a:lnTo>
                  <a:pt x="7540238" y="0"/>
                </a:lnTo>
                <a:lnTo>
                  <a:pt x="7540238" y="9541770"/>
                </a:lnTo>
                <a:lnTo>
                  <a:pt x="0" y="95417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67" r="0" b="-9267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458600" y="876300"/>
            <a:ext cx="5875020" cy="1295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00"/>
              </a:lnSpc>
            </a:pPr>
            <a:r>
              <a:rPr lang="en-US" b="true" sz="7500" u="sng">
                <a:solidFill>
                  <a:srgbClr val="5E17E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Architecture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587816" y="876300"/>
            <a:ext cx="250746" cy="1295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00"/>
              </a:lnSpc>
            </a:pPr>
            <a:r>
              <a:rPr lang="en-US" sz="7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913665" y="384486"/>
            <a:ext cx="12374335" cy="9232940"/>
          </a:xfrm>
          <a:custGeom>
            <a:avLst/>
            <a:gdLst/>
            <a:ahLst/>
            <a:cxnLst/>
            <a:rect r="r" b="b" t="t" l="l"/>
            <a:pathLst>
              <a:path h="9232940" w="12374335">
                <a:moveTo>
                  <a:pt x="0" y="0"/>
                </a:moveTo>
                <a:lnTo>
                  <a:pt x="12374335" y="0"/>
                </a:lnTo>
                <a:lnTo>
                  <a:pt x="12374335" y="9232940"/>
                </a:lnTo>
                <a:lnTo>
                  <a:pt x="0" y="92329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551" t="0" r="-1369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-740139" y="373981"/>
            <a:ext cx="7643686" cy="25031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80"/>
              </a:lnSpc>
            </a:pPr>
            <a:r>
              <a:rPr lang="en-US" b="true" sz="7200">
                <a:solidFill>
                  <a:srgbClr val="5F839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Module</a:t>
            </a:r>
          </a:p>
          <a:p>
            <a:pPr algn="ctr">
              <a:lnSpc>
                <a:spcPts val="10080"/>
              </a:lnSpc>
            </a:pPr>
            <a:r>
              <a:rPr lang="en-US" b="true" sz="7200">
                <a:solidFill>
                  <a:srgbClr val="5F839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structure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822742" y="208911"/>
            <a:ext cx="15088899" cy="9611416"/>
          </a:xfrm>
          <a:custGeom>
            <a:avLst/>
            <a:gdLst/>
            <a:ahLst/>
            <a:cxnLst/>
            <a:rect r="r" b="b" t="t" l="l"/>
            <a:pathLst>
              <a:path h="9611416" w="15088899">
                <a:moveTo>
                  <a:pt x="0" y="0"/>
                </a:moveTo>
                <a:lnTo>
                  <a:pt x="15088899" y="0"/>
                </a:lnTo>
                <a:lnTo>
                  <a:pt x="15088899" y="9611416"/>
                </a:lnTo>
                <a:lnTo>
                  <a:pt x="0" y="961141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689" r="-2545" b="-4634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DAHCZSrOlr4</dc:identifier>
  <dcterms:modified xsi:type="dcterms:W3CDTF">2011-08-01T06:04:30Z</dcterms:modified>
  <cp:revision>1</cp:revision>
  <dc:title>RuralKart</dc:title>
</cp:coreProperties>
</file>